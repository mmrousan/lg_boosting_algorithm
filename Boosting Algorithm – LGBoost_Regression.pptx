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handoutMasterIdLst>
    <p:handoutMasterId r:id="rId13"/>
  </p:handoutMasterIdLst>
  <p:sldIdLst>
    <p:sldId id="256" r:id="rId5"/>
    <p:sldId id="266" r:id="rId6"/>
    <p:sldId id="1519" r:id="rId7"/>
    <p:sldId id="1520" r:id="rId8"/>
    <p:sldId id="1515" r:id="rId9"/>
    <p:sldId id="1517" r:id="rId10"/>
    <p:sldId id="151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8"/>
  </p:normalViewPr>
  <p:slideViewPr>
    <p:cSldViewPr snapToGrid="0">
      <p:cViewPr varScale="1">
        <p:scale>
          <a:sx n="81" d="100"/>
          <a:sy n="81" d="100"/>
        </p:scale>
        <p:origin x="677" y="62"/>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06-Oct-26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06-Oct-26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06-Oct-26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06-Oct-26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06-Oct-26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06-Oct-26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06-Oct-26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06-Oct-26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06-Oct-26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06-Oct-26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06-Oct-26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06-Oct-26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06-Oct-26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06-Oct-26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06-Oct-26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06-Oct-26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06-Oct-26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06-Oct-26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06-Oct-26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06-Oct-26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06-Oct-26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06-Oct-26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06-Oct-26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lightgbm.readthedocs.io/" TargetMode="External"/><Relationship Id="rId2" Type="http://schemas.openxmlformats.org/officeDocument/2006/relationships/image" Target="../media/image10.jpe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hyperlink" Target="https://doc.esri.com/en/arcgis-pro/latest/tool-reference/geoai/how-lightgbm-works.html" TargetMode="External"/><Relationship Id="rId2" Type="http://schemas.openxmlformats.org/officeDocument/2006/relationships/hyperlink" Target="https://www.youtube.com/watch?v=tSZxOd1TWZc" TargetMode="External"/><Relationship Id="rId1" Type="http://schemas.openxmlformats.org/officeDocument/2006/relationships/slideLayout" Target="../slideLayouts/slideLayout22.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7168896" y="1129554"/>
            <a:ext cx="4361688" cy="3475236"/>
          </a:xfrm>
        </p:spPr>
        <p:txBody>
          <a:bodyPr anchor="b">
            <a:normAutofit/>
          </a:bodyPr>
          <a:lstStyle/>
          <a:p>
            <a:r>
              <a:rPr lang="en-US" sz="3000"/>
              <a:t>Boosting Algorithm – </a:t>
            </a:r>
            <a:r>
              <a:rPr lang="en-US" sz="3000" err="1"/>
              <a:t>LGBoost_Regression</a:t>
            </a:r>
            <a:endParaRPr lang="en-US" sz="3000"/>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7168897" y="4731335"/>
            <a:ext cx="4206240" cy="1184585"/>
          </a:xfrm>
        </p:spPr>
        <p:txBody>
          <a:bodyPr anchor="t">
            <a:normAutofit/>
          </a:bodyPr>
          <a:lstStyle/>
          <a:p>
            <a:r>
              <a:rPr lang="en-US" dirty="0"/>
              <a:t>Presented by Rousan</a:t>
            </a:r>
          </a:p>
        </p:txBody>
      </p:sp>
      <p:pic>
        <p:nvPicPr>
          <p:cNvPr id="8" name="Picture 7">
            <a:extLst>
              <a:ext uri="{FF2B5EF4-FFF2-40B4-BE49-F238E27FC236}">
                <a16:creationId xmlns:a16="http://schemas.microsoft.com/office/drawing/2014/main" id="{AA297055-027E-4E02-B506-44C2189F2FA4}"/>
              </a:ext>
            </a:extLst>
          </p:cNvPr>
          <p:cNvPicPr>
            <a:picLocks noChangeAspect="1"/>
          </p:cNvPicPr>
          <p:nvPr/>
        </p:nvPicPr>
        <p:blipFill>
          <a:blip r:embed="rId2"/>
          <a:stretch>
            <a:fillRect/>
          </a:stretch>
        </p:blipFill>
        <p:spPr>
          <a:xfrm>
            <a:off x="0" y="1593446"/>
            <a:ext cx="6584950" cy="3671108"/>
          </a:xfrm>
          <a:prstGeom prst="rect">
            <a:avLst/>
          </a:prstGeom>
          <a:noFill/>
        </p:spPr>
      </p:pic>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6178E99-A518-1CD0-9A0A-6C5246F8B2A9}"/>
              </a:ext>
            </a:extLst>
          </p:cNvPr>
          <p:cNvSpPr>
            <a:spLocks noGrp="1"/>
          </p:cNvSpPr>
          <p:nvPr>
            <p:ph type="title"/>
          </p:nvPr>
        </p:nvSpPr>
        <p:spPr>
          <a:xfrm>
            <a:off x="7253808" y="584339"/>
            <a:ext cx="4361688" cy="1527048"/>
          </a:xfrm>
        </p:spPr>
        <p:txBody>
          <a:bodyPr anchor="b">
            <a:normAutofit/>
          </a:bodyPr>
          <a:lstStyle/>
          <a:p>
            <a:r>
              <a:rPr lang="en-US" dirty="0" err="1"/>
              <a:t>LightGBM</a:t>
            </a:r>
            <a:r>
              <a:rPr lang="en-US" dirty="0"/>
              <a:t> Regression</a:t>
            </a:r>
          </a:p>
        </p:txBody>
      </p:sp>
      <p:pic>
        <p:nvPicPr>
          <p:cNvPr id="5" name="Picture 4" descr="Vaccine storage and manufacturing">
            <a:extLst>
              <a:ext uri="{FF2B5EF4-FFF2-40B4-BE49-F238E27FC236}">
                <a16:creationId xmlns:a16="http://schemas.microsoft.com/office/drawing/2014/main" id="{5CB2DD63-261C-73DD-8E0C-D0D5830E8B27}"/>
              </a:ext>
            </a:extLst>
          </p:cNvPr>
          <p:cNvPicPr>
            <a:picLocks noChangeAspect="1"/>
          </p:cNvPicPr>
          <p:nvPr/>
        </p:nvPicPr>
        <p:blipFill>
          <a:blip r:embed="rId2"/>
          <a:srcRect l="22235" r="13413" b="-1"/>
          <a:stretch>
            <a:fillRect/>
          </a:stretch>
        </p:blipFill>
        <p:spPr>
          <a:xfrm>
            <a:off x="20" y="10"/>
            <a:ext cx="6611489" cy="6857990"/>
          </a:xfrm>
          <a:prstGeom prst="rect">
            <a:avLst/>
          </a:prstGeom>
          <a:noFill/>
        </p:spPr>
      </p:pic>
      <p:sp>
        <p:nvSpPr>
          <p:cNvPr id="7" name="Rectangle 3">
            <a:extLst>
              <a:ext uri="{FF2B5EF4-FFF2-40B4-BE49-F238E27FC236}">
                <a16:creationId xmlns:a16="http://schemas.microsoft.com/office/drawing/2014/main" id="{DD79403A-D9A7-4B13-BE44-B84AAA98E896}"/>
              </a:ext>
            </a:extLst>
          </p:cNvPr>
          <p:cNvSpPr>
            <a:spLocks noGrp="1" noChangeArrowheads="1"/>
          </p:cNvSpPr>
          <p:nvPr>
            <p:ph sz="quarter" idx="14"/>
          </p:nvPr>
        </p:nvSpPr>
        <p:spPr bwMode="auto">
          <a:xfrm>
            <a:off x="7253745" y="2212975"/>
            <a:ext cx="4362450" cy="40957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en-US" altLang="en-US" sz="1900" b="1" i="0" u="none" strike="noStrike" cap="none" normalizeH="0" baseline="0" err="1">
                <a:ln>
                  <a:noFill/>
                </a:ln>
                <a:effectLst/>
              </a:rPr>
              <a:t>LightGBM</a:t>
            </a:r>
            <a:r>
              <a:rPr kumimoji="0" lang="en-US" altLang="en-US" sz="1900" b="1" i="0" u="none" strike="noStrike" cap="none" normalizeH="0" baseline="0">
                <a:ln>
                  <a:noFill/>
                </a:ln>
                <a:effectLst/>
              </a:rPr>
              <a:t> Regressor</a:t>
            </a:r>
            <a:r>
              <a:rPr kumimoji="0" lang="en-US" altLang="en-US" sz="1900" b="0" i="0" u="none" strike="noStrike" cap="none" normalizeH="0" baseline="0">
                <a:ln>
                  <a:noFill/>
                </a:ln>
                <a:effectLst/>
              </a:rPr>
              <a:t> (specifically </a:t>
            </a:r>
            <a:r>
              <a:rPr kumimoji="0" lang="en-US" altLang="en-US" sz="1900" b="0" i="0" u="none" strike="noStrike" cap="none" normalizeH="0" baseline="0" err="1">
                <a:ln>
                  <a:noFill/>
                </a:ln>
                <a:effectLst/>
              </a:rPr>
              <a:t>LGBMRegressor</a:t>
            </a:r>
            <a:r>
              <a:rPr kumimoji="0" lang="en-US" altLang="en-US" sz="1900" b="0" i="0" u="none" strike="noStrike" cap="none" normalizeH="0" baseline="0">
                <a:ln>
                  <a:noFill/>
                </a:ln>
                <a:effectLst/>
              </a:rPr>
              <a:t> in Python) is a highly efficient machine learning model used to predict continuous numerical values, such as housing prices, stock values, or physical measurements. It is part of the </a:t>
            </a:r>
            <a:r>
              <a:rPr kumimoji="0" lang="en-US" altLang="en-US" sz="1900" b="0" i="0" u="none" strike="noStrike" cap="none" normalizeH="0" baseline="0" err="1">
                <a:ln>
                  <a:noFill/>
                </a:ln>
                <a:effectLst/>
                <a:hlinkClick r:id="rId3"/>
              </a:rPr>
              <a:t>LightGBM</a:t>
            </a:r>
            <a:r>
              <a:rPr kumimoji="0" lang="en-US" altLang="en-US" sz="1900" b="0" i="0" u="none" strike="noStrike" cap="none" normalizeH="0" baseline="0">
                <a:ln>
                  <a:noFill/>
                </a:ln>
                <a:effectLst/>
                <a:hlinkClick r:id="rId3"/>
              </a:rPr>
              <a:t> framework</a:t>
            </a:r>
            <a:r>
              <a:rPr kumimoji="0" lang="en-US" altLang="en-US" sz="1900" b="0" i="0" u="none" strike="noStrike" cap="none" normalizeH="0" baseline="0">
                <a:ln>
                  <a:noFill/>
                </a:ln>
                <a:effectLst/>
              </a:rPr>
              <a:t> (Light Gradient Boosting Machine) developed by Microsoft, which builds an ensemble of decision trees sequentially to correct the errors of previous </a:t>
            </a:r>
            <a:r>
              <a:rPr kumimoji="0" lang="en-US" altLang="en-US" sz="1900" b="0" i="0" u="none" strike="noStrike" cap="none" normalizeH="0" baseline="0" err="1">
                <a:ln>
                  <a:noFill/>
                </a:ln>
                <a:effectLst/>
              </a:rPr>
              <a:t>tre</a:t>
            </a:r>
            <a:r>
              <a:rPr kumimoji="0" lang="en-US" altLang="en-US" sz="1900" b="0" i="0" u="none" strike="noStrike" cap="none" normalizeH="0" baseline="0">
                <a:ln>
                  <a:noFill/>
                </a:ln>
                <a:effectLst/>
              </a:rPr>
              <a:t> </a:t>
            </a:r>
          </a:p>
        </p:txBody>
      </p:sp>
      <p:sp>
        <p:nvSpPr>
          <p:cNvPr id="2" name="Title 1">
            <a:extLst>
              <a:ext uri="{FF2B5EF4-FFF2-40B4-BE49-F238E27FC236}">
                <a16:creationId xmlns:a16="http://schemas.microsoft.com/office/drawing/2014/main" id="{8A497B4E-3C70-7F36-A4BF-7CA5CBC848F4}"/>
              </a:ext>
            </a:extLst>
          </p:cNvPr>
          <p:cNvSpPr>
            <a:spLocks noGrp="1"/>
          </p:cNvSpPr>
          <p:nvPr>
            <p:ph type="title"/>
          </p:nvPr>
        </p:nvSpPr>
        <p:spPr>
          <a:xfrm>
            <a:off x="612648" y="-1133856"/>
            <a:ext cx="10652760" cy="1133856"/>
          </a:xfrm>
        </p:spPr>
        <p:txBody>
          <a:bodyPr/>
          <a:lstStyle/>
          <a:p>
            <a:r>
              <a:rPr lang="en-US" dirty="0"/>
              <a:t>Delivering with confidence</a:t>
            </a:r>
          </a:p>
        </p:txBody>
      </p:sp>
    </p:spTree>
    <p:extLst>
      <p:ext uri="{BB962C8B-B14F-4D97-AF65-F5344CB8AC3E}">
        <p14:creationId xmlns:p14="http://schemas.microsoft.com/office/powerpoint/2010/main" val="3947552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9FD344E-F7EC-49AE-880F-D4873F5DA6BB}"/>
              </a:ext>
            </a:extLst>
          </p:cNvPr>
          <p:cNvPicPr>
            <a:picLocks noGrp="1" noChangeAspect="1"/>
          </p:cNvPicPr>
          <p:nvPr>
            <p:ph idx="1"/>
          </p:nvPr>
        </p:nvPicPr>
        <p:blipFill>
          <a:blip r:embed="rId2"/>
          <a:stretch>
            <a:fillRect/>
          </a:stretch>
        </p:blipFill>
        <p:spPr>
          <a:xfrm>
            <a:off x="2639480" y="367091"/>
            <a:ext cx="6919567" cy="6123818"/>
          </a:xfrm>
          <a:prstGeom prst="rect">
            <a:avLst/>
          </a:prstGeom>
          <a:noFill/>
        </p:spPr>
      </p:pic>
    </p:spTree>
    <p:extLst>
      <p:ext uri="{BB962C8B-B14F-4D97-AF65-F5344CB8AC3E}">
        <p14:creationId xmlns:p14="http://schemas.microsoft.com/office/powerpoint/2010/main" val="4083174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612648" y="548640"/>
            <a:ext cx="10653578" cy="1132258"/>
          </a:xfrm>
        </p:spPr>
        <p:txBody>
          <a:bodyPr anchor="t">
            <a:normAutofit/>
          </a:bodyPr>
          <a:lstStyle/>
          <a:p>
            <a:r>
              <a:rPr lang="en-US" dirty="0" err="1"/>
              <a:t>LightGBM</a:t>
            </a:r>
            <a:r>
              <a:rPr lang="en-US" dirty="0"/>
              <a:t> Regressor — Key Parameters and Their Purpose</a:t>
            </a:r>
          </a:p>
        </p:txBody>
      </p:sp>
      <p:graphicFrame>
        <p:nvGraphicFramePr>
          <p:cNvPr id="6" name="Content Placeholder 5">
            <a:extLst>
              <a:ext uri="{FF2B5EF4-FFF2-40B4-BE49-F238E27FC236}">
                <a16:creationId xmlns:a16="http://schemas.microsoft.com/office/drawing/2014/main" id="{4C7A4CE5-C377-4AAE-9F03-4130810D78E8}"/>
              </a:ext>
            </a:extLst>
          </p:cNvPr>
          <p:cNvGraphicFramePr>
            <a:graphicFrameLocks noGrp="1"/>
          </p:cNvGraphicFramePr>
          <p:nvPr>
            <p:ph idx="1"/>
            <p:extLst>
              <p:ext uri="{D42A27DB-BD31-4B8C-83A1-F6EECF244321}">
                <p14:modId xmlns:p14="http://schemas.microsoft.com/office/powerpoint/2010/main" val="1570691062"/>
              </p:ext>
            </p:extLst>
          </p:nvPr>
        </p:nvGraphicFramePr>
        <p:xfrm>
          <a:off x="612647" y="2126066"/>
          <a:ext cx="10653580" cy="4013572"/>
        </p:xfrm>
        <a:graphic>
          <a:graphicData uri="http://schemas.openxmlformats.org/drawingml/2006/table">
            <a:tbl>
              <a:tblPr/>
              <a:tblGrid>
                <a:gridCol w="5320044">
                  <a:extLst>
                    <a:ext uri="{9D8B030D-6E8A-4147-A177-3AD203B41FA5}">
                      <a16:colId xmlns:a16="http://schemas.microsoft.com/office/drawing/2014/main" val="2285446117"/>
                    </a:ext>
                  </a:extLst>
                </a:gridCol>
                <a:gridCol w="5333536">
                  <a:extLst>
                    <a:ext uri="{9D8B030D-6E8A-4147-A177-3AD203B41FA5}">
                      <a16:colId xmlns:a16="http://schemas.microsoft.com/office/drawing/2014/main" val="17780308"/>
                    </a:ext>
                  </a:extLst>
                </a:gridCol>
              </a:tblGrid>
              <a:tr h="405380">
                <a:tc>
                  <a:txBody>
                    <a:bodyPr/>
                    <a:lstStyle/>
                    <a:p>
                      <a:r>
                        <a:rPr lang="en-US" sz="1800"/>
                        <a:t>Parameter(s)</a:t>
                      </a:r>
                    </a:p>
                  </a:txBody>
                  <a:tcPr marL="91323" marR="91323" marT="45662" marB="45662" anchor="ctr">
                    <a:lnL>
                      <a:noFill/>
                    </a:lnL>
                    <a:lnR>
                      <a:noFill/>
                    </a:lnR>
                    <a:lnT>
                      <a:noFill/>
                    </a:lnT>
                    <a:lnB>
                      <a:noFill/>
                    </a:lnB>
                  </a:tcPr>
                </a:tc>
                <a:tc>
                  <a:txBody>
                    <a:bodyPr/>
                    <a:lstStyle/>
                    <a:p>
                      <a:r>
                        <a:rPr lang="en-US" sz="1800"/>
                        <a:t>Purpose</a:t>
                      </a:r>
                    </a:p>
                  </a:txBody>
                  <a:tcPr marL="91323" marR="91323" marT="45662" marB="45662" anchor="ctr">
                    <a:lnL>
                      <a:noFill/>
                    </a:lnL>
                    <a:lnR>
                      <a:noFill/>
                    </a:lnR>
                    <a:lnT>
                      <a:noFill/>
                    </a:lnT>
                    <a:lnB>
                      <a:noFill/>
                    </a:lnB>
                  </a:tcPr>
                </a:tc>
                <a:extLst>
                  <a:ext uri="{0D108BD9-81ED-4DB2-BD59-A6C34878D82A}">
                    <a16:rowId xmlns:a16="http://schemas.microsoft.com/office/drawing/2014/main" val="675045790"/>
                  </a:ext>
                </a:extLst>
              </a:tr>
              <a:tr h="673477">
                <a:tc>
                  <a:txBody>
                    <a:bodyPr/>
                    <a:lstStyle/>
                    <a:p>
                      <a:r>
                        <a:rPr lang="en-US" sz="1800"/>
                        <a:t>num_leaves / max_depth</a:t>
                      </a:r>
                    </a:p>
                  </a:txBody>
                  <a:tcPr marL="91323" marR="91323" marT="45662" marB="45662" anchor="ctr">
                    <a:lnL>
                      <a:noFill/>
                    </a:lnL>
                    <a:lnR>
                      <a:noFill/>
                    </a:lnR>
                    <a:lnT>
                      <a:noFill/>
                    </a:lnT>
                    <a:lnB>
                      <a:noFill/>
                    </a:lnB>
                  </a:tcPr>
                </a:tc>
                <a:tc>
                  <a:txBody>
                    <a:bodyPr/>
                    <a:lstStyle/>
                    <a:p>
                      <a:r>
                        <a:rPr lang="en-US" sz="1800"/>
                        <a:t>Control the complexity of leaf-wise trees by limiting the number of leaves and tree depth.</a:t>
                      </a:r>
                    </a:p>
                  </a:txBody>
                  <a:tcPr marL="91323" marR="91323" marT="45662" marB="45662" anchor="ctr">
                    <a:lnL>
                      <a:noFill/>
                    </a:lnL>
                    <a:lnR>
                      <a:noFill/>
                    </a:lnR>
                    <a:lnT>
                      <a:noFill/>
                    </a:lnT>
                    <a:lnB>
                      <a:noFill/>
                    </a:lnB>
                  </a:tcPr>
                </a:tc>
                <a:extLst>
                  <a:ext uri="{0D108BD9-81ED-4DB2-BD59-A6C34878D82A}">
                    <a16:rowId xmlns:a16="http://schemas.microsoft.com/office/drawing/2014/main" val="4269745365"/>
                  </a:ext>
                </a:extLst>
              </a:tr>
              <a:tr h="673477">
                <a:tc>
                  <a:txBody>
                    <a:bodyPr/>
                    <a:lstStyle/>
                    <a:p>
                      <a:r>
                        <a:rPr lang="en-US" sz="1800"/>
                        <a:t>min_child_samples</a:t>
                      </a:r>
                    </a:p>
                  </a:txBody>
                  <a:tcPr marL="91323" marR="91323" marT="45662" marB="45662" anchor="ctr">
                    <a:lnL>
                      <a:noFill/>
                    </a:lnL>
                    <a:lnR>
                      <a:noFill/>
                    </a:lnR>
                    <a:lnT>
                      <a:noFill/>
                    </a:lnT>
                    <a:lnB>
                      <a:noFill/>
                    </a:lnB>
                  </a:tcPr>
                </a:tc>
                <a:tc>
                  <a:txBody>
                    <a:bodyPr/>
                    <a:lstStyle/>
                    <a:p>
                      <a:r>
                        <a:rPr lang="en-US" sz="1800"/>
                        <a:t>Sets the minimum number of observations required in a leaf. Particularly important for small datasets.</a:t>
                      </a:r>
                    </a:p>
                  </a:txBody>
                  <a:tcPr marL="91323" marR="91323" marT="45662" marB="45662" anchor="ctr">
                    <a:lnL>
                      <a:noFill/>
                    </a:lnL>
                    <a:lnR>
                      <a:noFill/>
                    </a:lnR>
                    <a:lnT>
                      <a:noFill/>
                    </a:lnT>
                    <a:lnB>
                      <a:noFill/>
                    </a:lnB>
                  </a:tcPr>
                </a:tc>
                <a:extLst>
                  <a:ext uri="{0D108BD9-81ED-4DB2-BD59-A6C34878D82A}">
                    <a16:rowId xmlns:a16="http://schemas.microsoft.com/office/drawing/2014/main" val="2695686741"/>
                  </a:ext>
                </a:extLst>
              </a:tr>
              <a:tr h="673477">
                <a:tc>
                  <a:txBody>
                    <a:bodyPr/>
                    <a:lstStyle/>
                    <a:p>
                      <a:r>
                        <a:rPr lang="en-US" sz="1800"/>
                        <a:t>n_estimators / learning_rate</a:t>
                      </a:r>
                    </a:p>
                  </a:txBody>
                  <a:tcPr marL="91323" marR="91323" marT="45662" marB="45662" anchor="ctr">
                    <a:lnL>
                      <a:noFill/>
                    </a:lnL>
                    <a:lnR>
                      <a:noFill/>
                    </a:lnR>
                    <a:lnT>
                      <a:noFill/>
                    </a:lnT>
                    <a:lnB>
                      <a:noFill/>
                    </a:lnB>
                  </a:tcPr>
                </a:tc>
                <a:tc>
                  <a:txBody>
                    <a:bodyPr/>
                    <a:lstStyle/>
                    <a:p>
                      <a:r>
                        <a:rPr lang="en-US" sz="1800"/>
                        <a:t>Control the number of boosting rounds and the size of each correction. Tune them together.</a:t>
                      </a:r>
                    </a:p>
                  </a:txBody>
                  <a:tcPr marL="91323" marR="91323" marT="45662" marB="45662" anchor="ctr">
                    <a:lnL>
                      <a:noFill/>
                    </a:lnL>
                    <a:lnR>
                      <a:noFill/>
                    </a:lnR>
                    <a:lnT>
                      <a:noFill/>
                    </a:lnT>
                    <a:lnB>
                      <a:noFill/>
                    </a:lnB>
                  </a:tcPr>
                </a:tc>
                <a:extLst>
                  <a:ext uri="{0D108BD9-81ED-4DB2-BD59-A6C34878D82A}">
                    <a16:rowId xmlns:a16="http://schemas.microsoft.com/office/drawing/2014/main" val="2576216169"/>
                  </a:ext>
                </a:extLst>
              </a:tr>
              <a:tr h="673477">
                <a:tc>
                  <a:txBody>
                    <a:bodyPr/>
                    <a:lstStyle/>
                    <a:p>
                      <a:r>
                        <a:rPr lang="en-US" sz="1800"/>
                        <a:t>subsample / subsample_freq</a:t>
                      </a:r>
                    </a:p>
                  </a:txBody>
                  <a:tcPr marL="91323" marR="91323" marT="45662" marB="45662" anchor="ctr">
                    <a:lnL>
                      <a:noFill/>
                    </a:lnL>
                    <a:lnR>
                      <a:noFill/>
                    </a:lnR>
                    <a:lnT>
                      <a:noFill/>
                    </a:lnT>
                    <a:lnB>
                      <a:noFill/>
                    </a:lnB>
                  </a:tcPr>
                </a:tc>
                <a:tc>
                  <a:txBody>
                    <a:bodyPr/>
                    <a:lstStyle/>
                    <a:p>
                      <a:r>
                        <a:rPr lang="en-US" sz="1800"/>
                        <a:t>Control row sampling. Set subsample &lt; 1.0 and subsample_freq &gt; 0 to enable it.</a:t>
                      </a:r>
                    </a:p>
                  </a:txBody>
                  <a:tcPr marL="91323" marR="91323" marT="45662" marB="45662" anchor="ctr">
                    <a:lnL>
                      <a:noFill/>
                    </a:lnL>
                    <a:lnR>
                      <a:noFill/>
                    </a:lnR>
                    <a:lnT>
                      <a:noFill/>
                    </a:lnT>
                    <a:lnB>
                      <a:noFill/>
                    </a:lnB>
                  </a:tcPr>
                </a:tc>
                <a:extLst>
                  <a:ext uri="{0D108BD9-81ED-4DB2-BD59-A6C34878D82A}">
                    <a16:rowId xmlns:a16="http://schemas.microsoft.com/office/drawing/2014/main" val="1898194733"/>
                  </a:ext>
                </a:extLst>
              </a:tr>
              <a:tr h="673477">
                <a:tc>
                  <a:txBody>
                    <a:bodyPr/>
                    <a:lstStyle/>
                    <a:p>
                      <a:r>
                        <a:rPr lang="en-US" sz="1800"/>
                        <a:t>colsample_bytree / reg_lambda</a:t>
                      </a:r>
                    </a:p>
                  </a:txBody>
                  <a:tcPr marL="91323" marR="91323" marT="45662" marB="45662" anchor="ctr">
                    <a:lnL>
                      <a:noFill/>
                    </a:lnL>
                    <a:lnR>
                      <a:noFill/>
                    </a:lnR>
                    <a:lnT>
                      <a:noFill/>
                    </a:lnT>
                    <a:lnB>
                      <a:noFill/>
                    </a:lnB>
                  </a:tcPr>
                </a:tc>
                <a:tc>
                  <a:txBody>
                    <a:bodyPr/>
                    <a:lstStyle/>
                    <a:p>
                      <a:r>
                        <a:rPr lang="en-US" sz="1800"/>
                        <a:t>Control feature sampling per tree and L2 regularization on leaf weights, respectively.</a:t>
                      </a:r>
                    </a:p>
                  </a:txBody>
                  <a:tcPr marL="91323" marR="91323" marT="45662" marB="45662" anchor="ctr">
                    <a:lnL>
                      <a:noFill/>
                    </a:lnL>
                    <a:lnR>
                      <a:noFill/>
                    </a:lnR>
                    <a:lnT>
                      <a:noFill/>
                    </a:lnT>
                    <a:lnB>
                      <a:noFill/>
                    </a:lnB>
                  </a:tcPr>
                </a:tc>
                <a:extLst>
                  <a:ext uri="{0D108BD9-81ED-4DB2-BD59-A6C34878D82A}">
                    <a16:rowId xmlns:a16="http://schemas.microsoft.com/office/drawing/2014/main" val="3539972919"/>
                  </a:ext>
                </a:extLst>
              </a:tr>
            </a:tbl>
          </a:graphicData>
        </a:graphic>
      </p:graphicFrame>
    </p:spTree>
    <p:extLst>
      <p:ext uri="{BB962C8B-B14F-4D97-AF65-F5344CB8AC3E}">
        <p14:creationId xmlns:p14="http://schemas.microsoft.com/office/powerpoint/2010/main" val="388990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ctrTitle"/>
          </p:nvPr>
        </p:nvSpPr>
        <p:spPr>
          <a:xfrm>
            <a:off x="7168896" y="1129554"/>
            <a:ext cx="4361688" cy="3475236"/>
          </a:xfrm>
        </p:spPr>
        <p:txBody>
          <a:bodyPr anchor="b">
            <a:normAutofit/>
          </a:bodyPr>
          <a:lstStyle/>
          <a:p>
            <a:r>
              <a:rPr lang="en-US" dirty="0"/>
              <a:t>Python Code</a:t>
            </a:r>
          </a:p>
        </p:txBody>
      </p:sp>
      <p:sp>
        <p:nvSpPr>
          <p:cNvPr id="11" name="Subtitle 2">
            <a:extLst>
              <a:ext uri="{FF2B5EF4-FFF2-40B4-BE49-F238E27FC236}">
                <a16:creationId xmlns:a16="http://schemas.microsoft.com/office/drawing/2014/main" id="{C73D7BAC-87A2-584B-CF63-AFA0E2B1E087}"/>
              </a:ext>
            </a:extLst>
          </p:cNvPr>
          <p:cNvSpPr>
            <a:spLocks noGrp="1"/>
          </p:cNvSpPr>
          <p:nvPr>
            <p:ph type="subTitle" idx="1"/>
          </p:nvPr>
        </p:nvSpPr>
        <p:spPr>
          <a:xfrm>
            <a:off x="7168897" y="4731335"/>
            <a:ext cx="4206240" cy="1184585"/>
          </a:xfrm>
        </p:spPr>
        <p:txBody>
          <a:bodyPr/>
          <a:lstStyle/>
          <a:p>
            <a:endParaRPr lang="en-US"/>
          </a:p>
        </p:txBody>
      </p:sp>
      <p:pic>
        <p:nvPicPr>
          <p:cNvPr id="6" name="Content Placeholder 5">
            <a:extLst>
              <a:ext uri="{FF2B5EF4-FFF2-40B4-BE49-F238E27FC236}">
                <a16:creationId xmlns:a16="http://schemas.microsoft.com/office/drawing/2014/main" id="{E4528C15-92E1-4D77-A29B-29AE6D2A1A4D}"/>
              </a:ext>
            </a:extLst>
          </p:cNvPr>
          <p:cNvPicPr>
            <a:picLocks noGrp="1" noChangeAspect="1"/>
          </p:cNvPicPr>
          <p:nvPr>
            <p:ph type="pic" sz="quarter" idx="13"/>
          </p:nvPr>
        </p:nvPicPr>
        <p:blipFill>
          <a:blip r:embed="rId2"/>
          <a:stretch/>
        </p:blipFill>
        <p:spPr>
          <a:xfrm>
            <a:off x="0" y="334074"/>
            <a:ext cx="6584950" cy="6189852"/>
          </a:xfrm>
          <a:prstGeom prst="rect">
            <a:avLst/>
          </a:prstGeom>
          <a:noFill/>
        </p:spPr>
      </p:pic>
    </p:spTree>
    <p:extLst>
      <p:ext uri="{BB962C8B-B14F-4D97-AF65-F5344CB8AC3E}">
        <p14:creationId xmlns:p14="http://schemas.microsoft.com/office/powerpoint/2010/main" val="273109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7094553" y="320040"/>
            <a:ext cx="4522936" cy="932688"/>
          </a:xfrm>
        </p:spPr>
        <p:txBody>
          <a:bodyPr anchor="b">
            <a:normAutofit/>
          </a:bodyPr>
          <a:lstStyle/>
          <a:p>
            <a:r>
              <a:rPr lang="en-US" sz="3000" dirty="0"/>
              <a:t>How </a:t>
            </a:r>
            <a:r>
              <a:rPr lang="en-US" sz="3000" dirty="0" err="1"/>
              <a:t>LightGBM</a:t>
            </a:r>
            <a:r>
              <a:rPr lang="en-US" sz="3000" dirty="0"/>
              <a:t> Regression Works</a:t>
            </a:r>
          </a:p>
        </p:txBody>
      </p:sp>
      <p:pic>
        <p:nvPicPr>
          <p:cNvPr id="8" name="Picture 5" descr="Top view of cubes connected with black lines">
            <a:extLst>
              <a:ext uri="{FF2B5EF4-FFF2-40B4-BE49-F238E27FC236}">
                <a16:creationId xmlns:a16="http://schemas.microsoft.com/office/drawing/2014/main" id="{FF773274-F4A0-D0AE-EEE7-AA2910A56543}"/>
              </a:ext>
            </a:extLst>
          </p:cNvPr>
          <p:cNvPicPr>
            <a:picLocks noChangeAspect="1"/>
          </p:cNvPicPr>
          <p:nvPr/>
        </p:nvPicPr>
        <p:blipFill>
          <a:blip r:embed="rId2"/>
          <a:srcRect l="19461" r="9539"/>
          <a:stretch>
            <a:fillRect/>
          </a:stretch>
        </p:blipFill>
        <p:spPr>
          <a:xfrm>
            <a:off x="1" y="10"/>
            <a:ext cx="6492240" cy="6857990"/>
          </a:xfrm>
          <a:prstGeom prst="rect">
            <a:avLst/>
          </a:prstGeom>
          <a:noFill/>
        </p:spPr>
      </p:pic>
      <p:sp>
        <p:nvSpPr>
          <p:cNvPr id="4" name="Content Placeholder 3">
            <a:extLst>
              <a:ext uri="{FF2B5EF4-FFF2-40B4-BE49-F238E27FC236}">
                <a16:creationId xmlns:a16="http://schemas.microsoft.com/office/drawing/2014/main" id="{575EE33C-FBF3-4645-99F7-32EE9F649E33}"/>
              </a:ext>
            </a:extLst>
          </p:cNvPr>
          <p:cNvSpPr>
            <a:spLocks noGrp="1"/>
          </p:cNvSpPr>
          <p:nvPr>
            <p:ph sz="quarter" idx="14"/>
          </p:nvPr>
        </p:nvSpPr>
        <p:spPr>
          <a:xfrm>
            <a:off x="7104888" y="1380744"/>
            <a:ext cx="4512601" cy="4983480"/>
          </a:xfrm>
        </p:spPr>
        <p:txBody>
          <a:bodyPr>
            <a:normAutofit/>
          </a:bodyPr>
          <a:lstStyle/>
          <a:p>
            <a:pPr>
              <a:lnSpc>
                <a:spcPct val="110000"/>
              </a:lnSpc>
            </a:pPr>
            <a:r>
              <a:rPr lang="en-US" b="1" dirty="0" err="1"/>
              <a:t>LightGBM</a:t>
            </a:r>
            <a:r>
              <a:rPr lang="en-US" b="1" dirty="0"/>
              <a:t> Regressor</a:t>
            </a:r>
            <a:r>
              <a:rPr lang="en-US" dirty="0"/>
              <a:t> is a highly efficient machine learning model that predicts continuous numerical values by sequentially building an ensemble of decision trees. Developed by Microsoft, it belongs to the Gradient Boosting Decision Tree (GBDT) framework. Instead of building a single complex model, it creates a series of weak decision trees where </a:t>
            </a:r>
            <a:r>
              <a:rPr lang="en-US" b="1" dirty="0"/>
              <a:t>each new tree is trained to correct the errors (residuals) made by the previous tree</a:t>
            </a:r>
            <a:endParaRPr lang="en-US" dirty="0"/>
          </a:p>
        </p:txBody>
      </p:sp>
    </p:spTree>
    <p:extLst>
      <p:ext uri="{BB962C8B-B14F-4D97-AF65-F5344CB8AC3E}">
        <p14:creationId xmlns:p14="http://schemas.microsoft.com/office/powerpoint/2010/main" val="43755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5D91-940D-41BB-9FDE-58C2733B969A}"/>
              </a:ext>
            </a:extLst>
          </p:cNvPr>
          <p:cNvSpPr>
            <a:spLocks noGrp="1"/>
          </p:cNvSpPr>
          <p:nvPr>
            <p:ph type="title"/>
          </p:nvPr>
        </p:nvSpPr>
        <p:spPr>
          <a:xfrm>
            <a:off x="612647" y="320040"/>
            <a:ext cx="6858000" cy="932688"/>
          </a:xfrm>
        </p:spPr>
        <p:txBody>
          <a:bodyPr anchor="b">
            <a:normAutofit/>
          </a:bodyPr>
          <a:lstStyle/>
          <a:p>
            <a:r>
              <a:rPr lang="en-US" dirty="0"/>
              <a:t>Key Characteristics</a:t>
            </a:r>
          </a:p>
        </p:txBody>
      </p:sp>
      <p:sp>
        <p:nvSpPr>
          <p:cNvPr id="5" name="Rectangle 1">
            <a:extLst>
              <a:ext uri="{FF2B5EF4-FFF2-40B4-BE49-F238E27FC236}">
                <a16:creationId xmlns:a16="http://schemas.microsoft.com/office/drawing/2014/main" id="{1348C340-A9C6-4344-A778-8D6FA01257AC}"/>
              </a:ext>
            </a:extLst>
          </p:cNvPr>
          <p:cNvSpPr>
            <a:spLocks noGrp="1" noChangeArrowheads="1"/>
          </p:cNvSpPr>
          <p:nvPr>
            <p:ph sz="quarter" idx="14"/>
          </p:nvPr>
        </p:nvSpPr>
        <p:spPr bwMode="auto">
          <a:xfrm>
            <a:off x="612647" y="1380744"/>
            <a:ext cx="6858000" cy="49834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en-US" altLang="en-US" sz="1100" b="1" i="0" u="none" strike="noStrike" cap="none" normalizeH="0" baseline="0">
                <a:ln>
                  <a:noFill/>
                </a:ln>
                <a:effectLst/>
              </a:rPr>
              <a:t>Leaf-Wise Tree Growth:</a:t>
            </a:r>
            <a:r>
              <a:rPr kumimoji="0" lang="en-US" altLang="en-US" sz="1100" b="0" i="0" u="none" strike="noStrike" cap="none" normalizeH="0" baseline="0">
                <a:ln>
                  <a:noFill/>
                </a:ln>
                <a:effectLst/>
              </a:rPr>
              <a:t> Instead of growing trees level-by-level (depth-wise) like traditional algorithms, </a:t>
            </a:r>
            <a:r>
              <a:rPr kumimoji="0" lang="en-US" altLang="en-US" sz="1100" b="0" i="0" u="none" strike="noStrike" cap="none" normalizeH="0" baseline="0" err="1">
                <a:ln>
                  <a:noFill/>
                </a:ln>
                <a:effectLst/>
              </a:rPr>
              <a:t>LightGBM</a:t>
            </a:r>
            <a:r>
              <a:rPr kumimoji="0" lang="en-US" altLang="en-US" sz="1100" b="0" i="0" u="none" strike="noStrike" cap="none" normalizeH="0" baseline="0">
                <a:ln>
                  <a:noFill/>
                </a:ln>
                <a:effectLst/>
              </a:rPr>
              <a:t> uses a leaf-wise strategy that splits the leaf with the highest loss reduction. This builds deeper, more expressive trees faster, though it requires setting </a:t>
            </a:r>
            <a:r>
              <a:rPr kumimoji="0" lang="en-US" altLang="en-US" sz="1100" b="0" i="0" u="none" strike="noStrike" cap="none" normalizeH="0" baseline="0" err="1">
                <a:ln>
                  <a:noFill/>
                </a:ln>
                <a:effectLst/>
              </a:rPr>
              <a:t>max_depth</a:t>
            </a:r>
            <a:r>
              <a:rPr kumimoji="0" lang="en-US" altLang="en-US" sz="1100" b="0" i="0" u="none" strike="noStrike" cap="none" normalizeH="0" baseline="0">
                <a:ln>
                  <a:noFill/>
                </a:ln>
                <a:effectLst/>
              </a:rPr>
              <a:t> or </a:t>
            </a:r>
            <a:r>
              <a:rPr kumimoji="0" lang="en-US" altLang="en-US" sz="1100" b="0" i="0" u="none" strike="noStrike" cap="none" normalizeH="0" baseline="0" err="1">
                <a:ln>
                  <a:noFill/>
                </a:ln>
                <a:effectLst/>
              </a:rPr>
              <a:t>num_leaves</a:t>
            </a:r>
            <a:r>
              <a:rPr kumimoji="0" lang="en-US" altLang="en-US" sz="1100" b="0" i="0" u="none" strike="noStrike" cap="none" normalizeH="0" baseline="0">
                <a:ln>
                  <a:noFill/>
                </a:ln>
                <a:effectLst/>
              </a:rPr>
              <a:t> to prevent overfitting on small datasets </a:t>
            </a:r>
          </a:p>
          <a:p>
            <a:pPr marL="0" marR="0" lvl="0" indent="0" defTabSz="914400" rtl="0" eaLnBrk="0" fontAlgn="base" latinLnBrk="0" hangingPunct="0">
              <a:lnSpc>
                <a:spcPct val="110000"/>
              </a:lnSpc>
              <a:spcBef>
                <a:spcPct val="0"/>
              </a:spcBef>
              <a:spcAft>
                <a:spcPts val="600"/>
              </a:spcAft>
              <a:buClrTx/>
              <a:buSzTx/>
              <a:buFontTx/>
              <a:buNone/>
              <a:tabLst/>
            </a:pPr>
            <a:endParaRPr lang="en-US" altLang="en-US" sz="1100"/>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sz="1100" b="0" i="0" u="none" strike="noStrike" cap="none" normalizeH="0" baseline="0">
              <a:ln>
                <a:noFill/>
              </a:ln>
              <a:effectLst/>
            </a:endParaRPr>
          </a:p>
          <a:p>
            <a:pPr marL="0" lvl="0" indent="0" eaLnBrk="0" fontAlgn="base" hangingPunct="0">
              <a:lnSpc>
                <a:spcPct val="110000"/>
              </a:lnSpc>
              <a:spcBef>
                <a:spcPct val="0"/>
              </a:spcBef>
              <a:spcAft>
                <a:spcPts val="600"/>
              </a:spcAft>
              <a:buNone/>
            </a:pPr>
            <a:r>
              <a:rPr lang="en-US" sz="1100" b="1"/>
              <a:t>Histogram-Based Splitting:</a:t>
            </a:r>
            <a:r>
              <a:rPr lang="en-US" sz="1100"/>
              <a:t> Continuous numerical features are bucketed into discrete bins (histograms) instead of evaluating every single data point value. This dramatically reduces memory usage and speeds up training calculations</a:t>
            </a:r>
          </a:p>
          <a:p>
            <a:pPr marL="0" lvl="0" indent="0" eaLnBrk="0" fontAlgn="base" hangingPunct="0">
              <a:lnSpc>
                <a:spcPct val="110000"/>
              </a:lnSpc>
              <a:spcBef>
                <a:spcPct val="0"/>
              </a:spcBef>
              <a:spcAft>
                <a:spcPts val="600"/>
              </a:spcAft>
              <a:buNone/>
            </a:pPr>
            <a:endParaRPr kumimoji="0" lang="en-US" altLang="en-US" sz="1100" b="0" i="0" u="none" strike="noStrike" cap="none" normalizeH="0" baseline="0">
              <a:ln>
                <a:noFill/>
              </a:ln>
              <a:effectLst/>
            </a:endParaRPr>
          </a:p>
          <a:p>
            <a:pPr marL="0" lvl="0" indent="0" eaLnBrk="0" fontAlgn="base" hangingPunct="0">
              <a:lnSpc>
                <a:spcPct val="110000"/>
              </a:lnSpc>
              <a:spcBef>
                <a:spcPct val="0"/>
              </a:spcBef>
              <a:spcAft>
                <a:spcPts val="600"/>
              </a:spcAft>
              <a:buNone/>
            </a:pPr>
            <a:r>
              <a:rPr lang="en-US" sz="1100" b="1"/>
              <a:t>Gradient-Based One-Side Sampling (GOSS):</a:t>
            </a:r>
            <a:r>
              <a:rPr lang="en-US" sz="1100"/>
              <a:t> GOSS keeps all data points with large gradients (the ones with large errors needing more training) and randomly samples data points with small gradients. This cuts down the dataset size while maintaining accuracy for the regression objective. [</a:t>
            </a:r>
            <a:r>
              <a:rPr lang="en-US" sz="1100">
                <a:hlinkClick r:id="rId2"/>
              </a:rPr>
              <a:t>1</a:t>
            </a:r>
            <a:r>
              <a:rPr lang="en-US" sz="1100"/>
              <a:t>, </a:t>
            </a:r>
            <a:r>
              <a:rPr lang="en-US" sz="1100">
                <a:hlinkClick r:id="rId3"/>
              </a:rPr>
              <a:t>2</a:t>
            </a:r>
            <a:r>
              <a:rPr lang="en-US" sz="1100"/>
              <a:t>]</a:t>
            </a:r>
          </a:p>
          <a:p>
            <a:pPr marL="0" lvl="0" indent="0" eaLnBrk="0" fontAlgn="base" hangingPunct="0">
              <a:lnSpc>
                <a:spcPct val="110000"/>
              </a:lnSpc>
              <a:spcBef>
                <a:spcPct val="0"/>
              </a:spcBef>
              <a:spcAft>
                <a:spcPts val="600"/>
              </a:spcAft>
              <a:buNone/>
            </a:pPr>
            <a:endParaRPr kumimoji="0" lang="en-US" altLang="en-US" sz="1100" b="0" i="0" u="none" strike="noStrike" cap="none" normalizeH="0" baseline="0">
              <a:ln>
                <a:noFill/>
              </a:ln>
              <a:effectLst/>
            </a:endParaRPr>
          </a:p>
          <a:p>
            <a:pPr marL="0" lvl="0" indent="0" eaLnBrk="0" fontAlgn="base" hangingPunct="0">
              <a:lnSpc>
                <a:spcPct val="110000"/>
              </a:lnSpc>
              <a:spcBef>
                <a:spcPct val="0"/>
              </a:spcBef>
              <a:spcAft>
                <a:spcPts val="600"/>
              </a:spcAft>
              <a:buNone/>
            </a:pPr>
            <a:r>
              <a:rPr lang="en-US" sz="1100" b="1"/>
              <a:t>Exclusive Feature Bundling (EFB):</a:t>
            </a:r>
            <a:r>
              <a:rPr lang="en-US" sz="1100"/>
              <a:t> EFB combines mutually exclusive features (features that rarely take non-zero values at the same time, like one-hot encoded variables) into a single feature. This reduces dimensionality without losing information, making the algorithm run </a:t>
            </a:r>
            <a:r>
              <a:rPr lang="en-US" sz="1100" err="1"/>
              <a:t>faste</a:t>
            </a:r>
            <a:endParaRPr lang="en-US" sz="1100"/>
          </a:p>
          <a:p>
            <a:pPr marL="0" lvl="0" indent="0" eaLnBrk="0" fontAlgn="base" hangingPunct="0">
              <a:lnSpc>
                <a:spcPct val="110000"/>
              </a:lnSpc>
              <a:spcBef>
                <a:spcPct val="0"/>
              </a:spcBef>
              <a:spcAft>
                <a:spcPts val="600"/>
              </a:spcAft>
              <a:buNone/>
            </a:pPr>
            <a:endParaRPr kumimoji="0" lang="en-US" altLang="en-US" sz="1100" b="0" i="0" u="none" strike="noStrike" cap="none" normalizeH="0" baseline="0">
              <a:ln>
                <a:noFill/>
              </a:ln>
              <a:effectLst/>
            </a:endParaRPr>
          </a:p>
          <a:p>
            <a:pPr marL="0" lvl="0" indent="0" eaLnBrk="0" fontAlgn="base" hangingPunct="0">
              <a:lnSpc>
                <a:spcPct val="110000"/>
              </a:lnSpc>
              <a:spcBef>
                <a:spcPct val="0"/>
              </a:spcBef>
              <a:spcAft>
                <a:spcPts val="600"/>
              </a:spcAft>
              <a:buNone/>
            </a:pPr>
            <a:endParaRPr lang="en-US" altLang="en-US" sz="1100"/>
          </a:p>
          <a:p>
            <a:pPr marL="0" lvl="0" indent="0" eaLnBrk="0" fontAlgn="base" hangingPunct="0">
              <a:lnSpc>
                <a:spcPct val="110000"/>
              </a:lnSpc>
              <a:spcBef>
                <a:spcPct val="0"/>
              </a:spcBef>
              <a:spcAft>
                <a:spcPts val="600"/>
              </a:spcAft>
              <a:buNone/>
            </a:pPr>
            <a:r>
              <a:rPr lang="en-US" sz="1100" b="1"/>
              <a:t>Regression Objectives:</a:t>
            </a:r>
            <a:r>
              <a:rPr lang="en-US" sz="1100"/>
              <a:t> For regression tasks, it typically optimizes for L2 loss (Mean Squared Error) or L1 loss (Mean Absolute Error) to minimize prediction errors across numerical targets</a:t>
            </a:r>
            <a:endParaRPr kumimoji="0" lang="en-US" altLang="en-US" sz="1100" b="0" i="0" u="none" strike="noStrike" cap="none" normalizeH="0" baseline="0">
              <a:ln>
                <a:noFill/>
              </a:ln>
              <a:effectLst/>
            </a:endParaRPr>
          </a:p>
        </p:txBody>
      </p:sp>
      <p:pic>
        <p:nvPicPr>
          <p:cNvPr id="7" name="Picture 6" descr="A cropped image of a person touching a plant">
            <a:extLst>
              <a:ext uri="{FF2B5EF4-FFF2-40B4-BE49-F238E27FC236}">
                <a16:creationId xmlns:a16="http://schemas.microsoft.com/office/drawing/2014/main" id="{32B4818A-EB4F-F6AC-F9C8-56B42E5111CE}"/>
              </a:ext>
            </a:extLst>
          </p:cNvPr>
          <p:cNvPicPr>
            <a:picLocks noChangeAspect="1"/>
          </p:cNvPicPr>
          <p:nvPr/>
        </p:nvPicPr>
        <p:blipFill>
          <a:blip r:embed="rId4"/>
          <a:srcRect l="28569" r="31522"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451133448"/>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F7CFCFE-9E11-486F-94A1-AD5EF62DEC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15C017-F059-461C-B5CA-F74FA8291930}">
  <ds:schemaRefs>
    <ds:schemaRef ds:uri="http://schemas.microsoft.com/sharepoint/v3/contenttype/forms"/>
  </ds:schemaRefs>
</ds:datastoreItem>
</file>

<file path=customXml/itemProps3.xml><?xml version="1.0" encoding="utf-8"?>
<ds:datastoreItem xmlns:ds="http://schemas.openxmlformats.org/officeDocument/2006/customXml" ds:itemID="{3EA2E174-8201-44C8-8E86-D532E6482AA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5</TotalTime>
  <Words>508</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Neue Haas Grotesk Text Pro</vt:lpstr>
      <vt:lpstr>Helena</vt:lpstr>
      <vt:lpstr>Boosting Algorithm – LGBoost_Regression</vt:lpstr>
      <vt:lpstr>LightGBM Regression</vt:lpstr>
      <vt:lpstr>PowerPoint Presentation</vt:lpstr>
      <vt:lpstr>LightGBM Regressor — Key Parameters and Their Purpose</vt:lpstr>
      <vt:lpstr>Python Code</vt:lpstr>
      <vt:lpstr>How LightGBM Regression Works</vt:lpstr>
      <vt:lpstr>Key Characteristics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Boosting Algorithm – LGBoost_Regression</dc:title>
  <dc:creator>Rousan Meerasa</dc:creator>
  <cp:lastModifiedBy>Rousan Meerasa</cp:lastModifiedBy>
  <cp:revision>2</cp:revision>
  <dcterms:created xsi:type="dcterms:W3CDTF">2026-10-06T12:22:20Z</dcterms:created>
  <dcterms:modified xsi:type="dcterms:W3CDTF">2026-10-06T15:14:51Z</dcterms:modified>
</cp:coreProperties>
</file>